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1769-3708-4BFB-A33F-37F1D7B77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7443B-19FF-40F1-83BB-E786D41E0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0189B-261A-42A8-A527-BCEA3D0AB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7E08E-2E1F-41D2-83AE-5595D9B7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0088C-9441-4082-847F-13D89DA7D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497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CA32-7272-457D-A040-2F5CC0F90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E8BD-5354-472D-8BAB-6525360BC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D12EA-982A-4DF7-8B18-9CA6BE26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A112-9247-4518-889D-11A5D72E8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A6D0-1965-469D-92CF-DF7D3CC6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09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EC85B-51B6-499A-BD40-B6D14BB03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51F00-EE10-43A6-B4A1-06A94F24E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27FA8-51FE-4E16-BDE6-ED456590F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EE86F-AD75-40B4-ABC8-2966C48D0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69CDFC-3638-426F-BD78-92EFD0CA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79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FE20D-9154-4115-9531-BEBD4610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BCF9-8E1B-4C4F-8C6A-21601C6D1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55205E-406A-412E-AA64-EEBCCEA9D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B8EDB-BA48-4414-80BC-016A3A34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630DC-0F94-46FC-BC62-8FF955F2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FA4DE-A575-4DF7-B2C4-060BA946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481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98D44-6980-4342-8ED2-40EFFD08E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5D875-33E0-4B9C-AC79-00D04E85B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983B02-5F67-4933-8FAA-100ABFFBE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589F5-B5FF-4841-877D-8701B54850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4FE64A-E634-4C71-A385-23D309ECF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CF054C-968E-4F47-A928-0BC1C332C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393B0-C7AC-4CB8-A639-0829908B6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A27C-E557-424B-B954-6D83DF08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251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84B0-C90A-4008-AC60-A4F7D45A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A7138-12BB-4914-BA32-EBE2748FB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B8E6D3-528A-4049-8A92-88CB65CF5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79E6EE-5E8B-4D85-BD96-6CAB5098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319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5D252-8CF6-4FF4-84CD-1DAB52B96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04709-7116-4DD3-B955-91C8361E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9332B-6865-47C9-8773-ECF09C772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6448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A0C71-4B46-4173-BF42-29D761BDE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78A83-A266-44D9-876D-7B465DE17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8FCAD0-8848-47A3-9F19-496928CC1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88CDC-E25D-409E-9117-C88660512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817F0-1A6D-4372-AC3B-F3D5A674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B16EE9-AE24-4E3A-B2DB-A2E71934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30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D48E6-402C-459E-B8E0-8A5053BB7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E0CFFC-D084-4CFD-9E66-A679CD044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1A4A88-3AB3-4B0A-8A32-273A50AF1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39455-E0C8-4D5E-A0DC-3AE2D794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AD68AB-CE12-4969-A32F-A69C6FD4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171C0-B724-430A-B4E7-18BA03A03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981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EEBBF-7DD2-4091-9435-A815B4C68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075CA3-13D7-4639-AFB6-7AE9FA741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75DE3-B942-48B3-A838-9C10EF0E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CE890-46FD-4EBF-89CC-338384618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F2403-0571-4769-BC01-AD3FBD28D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39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C6D45C-0AA8-49DC-93E2-D78AF1127D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664A1-8D6D-4D8B-94FF-160694A87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96EF3-026F-4A50-A539-21055579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654A3-C6BF-4E01-99EB-0B66E36FF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6EA51-6AB4-4DF4-9FDD-AFBC434A4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86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5BB87-AAD3-4B0C-BE02-0EA775E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82D74-6712-46DB-A01C-20819DC36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DDC71-7C2A-4DAE-8544-DBB4B1E7E9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962ED-D806-46C7-83B1-9C4EE3C86F9B}" type="datetimeFigureOut">
              <a:rPr lang="en-IN" smtClean="0"/>
              <a:t>01-11-2023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CC5FC-33B9-4613-AD7D-D5D6F3596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AAFAD-34E9-4534-AAC0-08BEF2AC44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97279-E5F2-4D87-B347-1E8555D280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41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3BBB74B-17A9-4CA8-A975-D6D8994D145A}"/>
              </a:ext>
            </a:extLst>
          </p:cNvPr>
          <p:cNvSpPr/>
          <p:nvPr/>
        </p:nvSpPr>
        <p:spPr>
          <a:xfrm>
            <a:off x="0" y="612844"/>
            <a:ext cx="10742043" cy="56323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Multimedia support - HTML5 allows for the integration of multimedia elements such as audio and</a:t>
            </a:r>
          </a:p>
          <a:p>
            <a:r>
              <a:rPr lang="en-US" dirty="0"/>
              <a:t>      video directly into web pages without the need for plugins like Flash.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Canvas element - HTML5 introduced the &lt;canvas&gt; element, which allows for dynamic, interactive graphics to</a:t>
            </a:r>
          </a:p>
          <a:p>
            <a:r>
              <a:rPr lang="en-US" dirty="0"/>
              <a:t>      be created and manipulated within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Geolocation API - HTML5 provides an API for obtaining the user's location, enabling web applications to offer</a:t>
            </a:r>
          </a:p>
          <a:p>
            <a:r>
              <a:rPr lang="en-US" dirty="0"/>
              <a:t>      Location-based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Local Storage - HTML5 introduced the </a:t>
            </a:r>
            <a:r>
              <a:rPr lang="en-US" dirty="0" err="1"/>
              <a:t>localStorage</a:t>
            </a:r>
            <a:r>
              <a:rPr lang="en-US" dirty="0"/>
              <a:t> API, which allows for the storage of data on the user’s</a:t>
            </a:r>
          </a:p>
          <a:p>
            <a:r>
              <a:rPr lang="en-US" dirty="0"/>
              <a:t>      device, improving performance and reducing the need for round-trips to the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Structural Elements - HTML5 introduced new semantic elements such as &lt;header&gt;, &lt;footer&gt;, &lt;nav&gt;, and</a:t>
            </a:r>
          </a:p>
          <a:p>
            <a:r>
              <a:rPr lang="en-US" dirty="0"/>
              <a:t>      &lt;article&gt; that makes it easier to structure and organize content on a web page.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 Improvements - HTML5 introduced several improvements to forms, including new input types like date,</a:t>
            </a:r>
          </a:p>
          <a:p>
            <a:r>
              <a:rPr lang="en-US" dirty="0"/>
              <a:t>       time, and color, as well as new attributes such as required and autofocus.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Accessibility improvements - HTML5 provides better support for accessibility, including the ability to provide</a:t>
            </a:r>
          </a:p>
          <a:p>
            <a:r>
              <a:rPr lang="en-US" dirty="0"/>
              <a:t>      alternative text for images and improved support for screen readers.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54FB70-CD1C-4B27-A734-DEB64C0637EE}"/>
              </a:ext>
            </a:extLst>
          </p:cNvPr>
          <p:cNvSpPr/>
          <p:nvPr/>
        </p:nvSpPr>
        <p:spPr>
          <a:xfrm>
            <a:off x="88597" y="181538"/>
            <a:ext cx="3314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1. List out the features of HTML5.</a:t>
            </a:r>
          </a:p>
        </p:txBody>
      </p:sp>
    </p:spTree>
    <p:extLst>
      <p:ext uri="{BB962C8B-B14F-4D97-AF65-F5344CB8AC3E}">
        <p14:creationId xmlns:p14="http://schemas.microsoft.com/office/powerpoint/2010/main" val="675101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3098A2-B11D-4B31-874C-404D4997A5E8}"/>
              </a:ext>
            </a:extLst>
          </p:cNvPr>
          <p:cNvSpPr/>
          <p:nvPr/>
        </p:nvSpPr>
        <p:spPr>
          <a:xfrm>
            <a:off x="0" y="229470"/>
            <a:ext cx="133964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2. What are HTML Entities? List out 5 commonly used HTML entities.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49AB1-204F-46CB-8051-4A5E3D849833}"/>
              </a:ext>
            </a:extLst>
          </p:cNvPr>
          <p:cNvSpPr/>
          <p:nvPr/>
        </p:nvSpPr>
        <p:spPr>
          <a:xfrm>
            <a:off x="85817" y="2320693"/>
            <a:ext cx="1154689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     5 Commonly Used HTML Entities: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&amp;</a:t>
            </a:r>
            <a:r>
              <a:rPr lang="en-US" dirty="0" err="1"/>
              <a:t>lt</a:t>
            </a:r>
            <a:r>
              <a:rPr lang="en-US" dirty="0"/>
              <a:t>; - Represents the less-than symbol &lt;.</a:t>
            </a:r>
          </a:p>
          <a:p>
            <a:r>
              <a:rPr lang="en-US" dirty="0"/>
              <a:t>            Example: &lt;p&gt;This is an example &amp;</a:t>
            </a:r>
            <a:r>
              <a:rPr lang="en-US" dirty="0" err="1"/>
              <a:t>lt;em&amp;gt;text&amp;lt</a:t>
            </a:r>
            <a:r>
              <a:rPr lang="en-US" dirty="0"/>
              <a:t>;/</a:t>
            </a:r>
            <a:r>
              <a:rPr lang="en-US" dirty="0" err="1"/>
              <a:t>em&amp;gt</a:t>
            </a:r>
            <a:r>
              <a:rPr lang="en-US" dirty="0"/>
              <a:t>;.&lt;/p&gt;</a:t>
            </a:r>
          </a:p>
          <a:p>
            <a:r>
              <a:rPr lang="en-US" dirty="0"/>
              <a:t>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&amp;</a:t>
            </a:r>
            <a:r>
              <a:rPr lang="en-US" dirty="0" err="1"/>
              <a:t>gt</a:t>
            </a:r>
            <a:r>
              <a:rPr lang="en-US" dirty="0"/>
              <a:t>; - Represents the greater-than symbol &gt;.</a:t>
            </a:r>
          </a:p>
          <a:p>
            <a:r>
              <a:rPr lang="en-US" dirty="0"/>
              <a:t>            Example: &lt;p&gt;For more information, visit our website &amp;</a:t>
            </a:r>
            <a:r>
              <a:rPr lang="en-US" dirty="0" err="1"/>
              <a:t>gt</a:t>
            </a:r>
            <a:r>
              <a:rPr lang="en-US" dirty="0"/>
              <a:t>; &lt;a </a:t>
            </a:r>
            <a:r>
              <a:rPr lang="en-US" dirty="0" err="1"/>
              <a:t>href</a:t>
            </a:r>
            <a:r>
              <a:rPr lang="en-US" dirty="0"/>
              <a:t>="#"&gt;here&lt;/a&gt;.&lt;/p&gt;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 &amp;amp; - Represents the ampersand symbol &amp;.</a:t>
            </a:r>
          </a:p>
          <a:p>
            <a:r>
              <a:rPr lang="en-US" dirty="0"/>
              <a:t>             Example: &lt;p&gt;For further details, contact us &amp;amp; we'll assist you.&lt;/p&gt;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&amp;</a:t>
            </a:r>
            <a:r>
              <a:rPr lang="en-US" dirty="0" err="1"/>
              <a:t>quot</a:t>
            </a:r>
            <a:r>
              <a:rPr lang="en-US" dirty="0"/>
              <a:t>; - Represents a double quotation mark "</a:t>
            </a:r>
          </a:p>
          <a:p>
            <a:r>
              <a:rPr lang="en-US" dirty="0"/>
              <a:t>            Example: &lt;p&gt;The title of the book is "The Great Gatsby".&lt;/p&gt;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&amp;copy; - Represents the copyright symbol ©.</a:t>
            </a:r>
          </a:p>
          <a:p>
            <a:r>
              <a:rPr lang="en-US" dirty="0"/>
              <a:t>            Example: &lt;p&gt;&amp;copy; 2023 ACME Corporation. All rights reserved.&lt;/p&gt;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430EB-F1AC-4AC9-A4DD-AF5AFA8CC52A}"/>
              </a:ext>
            </a:extLst>
          </p:cNvPr>
          <p:cNvSpPr/>
          <p:nvPr/>
        </p:nvSpPr>
        <p:spPr>
          <a:xfrm>
            <a:off x="85817" y="828699"/>
            <a:ext cx="1137525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HTML Entities:</a:t>
            </a:r>
          </a:p>
          <a:p>
            <a:r>
              <a:rPr lang="en-IN" dirty="0"/>
              <a:t>HTML entities are special codes that represent reserved characters, symbols, or characters with specific</a:t>
            </a:r>
          </a:p>
          <a:p>
            <a:r>
              <a:rPr lang="en-IN" dirty="0"/>
              <a:t>meanings in HTML. They are used to display characters that might otherwise be interpreted as HTML code or</a:t>
            </a:r>
          </a:p>
          <a:p>
            <a:r>
              <a:rPr lang="en-IN" dirty="0"/>
              <a:t>cause rendering issues in web browsers. HTML entities are written using an ampersand (&amp;) followed by a</a:t>
            </a:r>
          </a:p>
          <a:p>
            <a:r>
              <a:rPr lang="en-IN" dirty="0"/>
              <a:t>specific code or name, and ending with a semicolon (;).</a:t>
            </a:r>
          </a:p>
        </p:txBody>
      </p:sp>
    </p:spTree>
    <p:extLst>
      <p:ext uri="{BB962C8B-B14F-4D97-AF65-F5344CB8AC3E}">
        <p14:creationId xmlns:p14="http://schemas.microsoft.com/office/powerpoint/2010/main" val="683031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42D751-D790-4C98-A062-D064D8C91819}"/>
              </a:ext>
            </a:extLst>
          </p:cNvPr>
          <p:cNvSpPr/>
          <p:nvPr/>
        </p:nvSpPr>
        <p:spPr>
          <a:xfrm>
            <a:off x="162757" y="2168346"/>
            <a:ext cx="1127168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Accessibility in Web Development: Accessibility in web development refers to designing and coding websites</a:t>
            </a:r>
          </a:p>
          <a:p>
            <a:r>
              <a:rPr lang="en-US" dirty="0"/>
              <a:t>in a way that ensures people with disabilities can perceive, understand, navigate, and interact with digital</a:t>
            </a:r>
          </a:p>
          <a:p>
            <a:r>
              <a:rPr lang="en-US" dirty="0"/>
              <a:t>content effectively. It involves making web content inclusive and usable for everyone, regardless of their</a:t>
            </a:r>
          </a:p>
          <a:p>
            <a:r>
              <a:rPr lang="en-US" dirty="0"/>
              <a:t>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     Importance of Accessible Websites: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Inclusivity: Accessible websites ensure that everyone, including people with disabilities, can access and use</a:t>
            </a:r>
          </a:p>
          <a:p>
            <a:r>
              <a:rPr lang="en-US" dirty="0"/>
              <a:t>                   online information and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legal Compliance: Many countries have laws requiring websites to be accessible, avoiding legal issues and </a:t>
            </a:r>
          </a:p>
          <a:p>
            <a:r>
              <a:rPr lang="en-US" dirty="0"/>
              <a:t>                                  Promoting equal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User Experience: Accessible design often leads to improved user experiences for everyone, including clear</a:t>
            </a:r>
          </a:p>
          <a:p>
            <a:r>
              <a:rPr lang="en-US" dirty="0"/>
              <a:t>                              navigation and content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Business Growth: Accessible websites reach a wider audience, increasing engagement, loyalty, and potential</a:t>
            </a:r>
          </a:p>
          <a:p>
            <a:r>
              <a:rPr lang="en-US" dirty="0"/>
              <a:t>                               customer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4F750-BCD4-46C0-870E-8E71FE8821A9}"/>
              </a:ext>
            </a:extLst>
          </p:cNvPr>
          <p:cNvSpPr/>
          <p:nvPr/>
        </p:nvSpPr>
        <p:spPr>
          <a:xfrm>
            <a:off x="162757" y="277401"/>
            <a:ext cx="114847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3) Define accessibility in the context of web development? Discuss why it's essential to create accessible</a:t>
            </a:r>
          </a:p>
          <a:p>
            <a:r>
              <a:rPr lang="en-IN" dirty="0"/>
              <a:t>websites and how it benefits different user groups</a:t>
            </a:r>
          </a:p>
        </p:txBody>
      </p:sp>
    </p:spTree>
    <p:extLst>
      <p:ext uri="{BB962C8B-B14F-4D97-AF65-F5344CB8AC3E}">
        <p14:creationId xmlns:p14="http://schemas.microsoft.com/office/powerpoint/2010/main" val="46855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6268E7-90D3-4DED-9369-8626F7911A57}"/>
              </a:ext>
            </a:extLst>
          </p:cNvPr>
          <p:cNvSpPr/>
          <p:nvPr/>
        </p:nvSpPr>
        <p:spPr>
          <a:xfrm>
            <a:off x="109490" y="256103"/>
            <a:ext cx="120825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/>
              <a:t>4) list any 3 ways which help us in improving the accessibility of HTML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DF504-3F4A-413D-8132-262BE2ABA251}"/>
              </a:ext>
            </a:extLst>
          </p:cNvPr>
          <p:cNvSpPr/>
          <p:nvPr/>
        </p:nvSpPr>
        <p:spPr>
          <a:xfrm>
            <a:off x="349187" y="1090565"/>
            <a:ext cx="109076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Semantic </a:t>
            </a:r>
            <a:r>
              <a:rPr lang="en-IN" dirty="0" err="1"/>
              <a:t>HTMl</a:t>
            </a:r>
            <a:r>
              <a:rPr lang="en-IN" dirty="0"/>
              <a:t> Elements: Using semantic HTML elements helps improve accessibility by providing</a:t>
            </a:r>
          </a:p>
          <a:p>
            <a:r>
              <a:rPr lang="en-IN" dirty="0"/>
              <a:t>      meaningful structure to your content. Semantic elements like &lt;header&gt;, &lt;nav&gt;, &lt;main&gt;, &lt;article&gt;, and &lt;footer&gt;</a:t>
            </a:r>
          </a:p>
          <a:p>
            <a:r>
              <a:rPr lang="en-IN" dirty="0"/>
              <a:t>      convey the purpose of different sections to assistive technologies, making it easier for users with disabilities to</a:t>
            </a:r>
          </a:p>
          <a:p>
            <a:r>
              <a:rPr lang="en-IN" dirty="0"/>
              <a:t>      navigate and understand the content.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EB159-CA1B-4407-83BC-E2B30F7D51F8}"/>
              </a:ext>
            </a:extLst>
          </p:cNvPr>
          <p:cNvSpPr/>
          <p:nvPr/>
        </p:nvSpPr>
        <p:spPr>
          <a:xfrm>
            <a:off x="239697" y="2354580"/>
            <a:ext cx="1125688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 Alt Text for Images: Adding descriptive alt text to images using the alt attribute ensures that users who</a:t>
            </a:r>
          </a:p>
          <a:p>
            <a:r>
              <a:rPr lang="en-IN" dirty="0"/>
              <a:t>      cannot see the images can understand their content and purpose. Screen readers read aloud the alt text,</a:t>
            </a:r>
          </a:p>
          <a:p>
            <a:r>
              <a:rPr lang="en-IN" dirty="0"/>
              <a:t>      making visual content accessible to people with visual impairments. Aim to make alt text concise, informative,</a:t>
            </a:r>
          </a:p>
          <a:p>
            <a:r>
              <a:rPr lang="en-IN" dirty="0"/>
              <a:t>      and relevant to the image.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Use </a:t>
            </a:r>
            <a:r>
              <a:rPr lang="en-IN" dirty="0" err="1"/>
              <a:t>Color</a:t>
            </a:r>
            <a:r>
              <a:rPr lang="en-IN" dirty="0"/>
              <a:t> with Care: </a:t>
            </a:r>
            <a:r>
              <a:rPr lang="en-IN" dirty="0" err="1"/>
              <a:t>Color</a:t>
            </a:r>
            <a:r>
              <a:rPr lang="en-IN" dirty="0"/>
              <a:t> plays an important role in web design, but it should not be the only means of</a:t>
            </a:r>
          </a:p>
          <a:p>
            <a:r>
              <a:rPr lang="en-IN" dirty="0"/>
              <a:t>      conveying information. Ensure that </a:t>
            </a:r>
            <a:r>
              <a:rPr lang="en-IN" dirty="0" err="1"/>
              <a:t>color</a:t>
            </a:r>
            <a:r>
              <a:rPr lang="en-IN" dirty="0"/>
              <a:t> is not the sole indicator of meaning. For example, when using error</a:t>
            </a:r>
          </a:p>
          <a:p>
            <a:r>
              <a:rPr lang="en-IN" dirty="0"/>
              <a:t>       messages, pair </a:t>
            </a:r>
            <a:r>
              <a:rPr lang="en-IN" dirty="0" err="1"/>
              <a:t>color</a:t>
            </a:r>
            <a:r>
              <a:rPr lang="en-IN" dirty="0"/>
              <a:t> with text that explains the error. Additionally, maintain sufficient </a:t>
            </a:r>
            <a:r>
              <a:rPr lang="en-IN" dirty="0" err="1"/>
              <a:t>color</a:t>
            </a:r>
            <a:r>
              <a:rPr lang="en-IN" dirty="0"/>
              <a:t> contrast between</a:t>
            </a:r>
          </a:p>
          <a:p>
            <a:r>
              <a:rPr lang="en-IN" dirty="0"/>
              <a:t>     text and background to enhance readability for users with low vision.</a:t>
            </a:r>
          </a:p>
        </p:txBody>
      </p:sp>
    </p:spTree>
    <p:extLst>
      <p:ext uri="{BB962C8B-B14F-4D97-AF65-F5344CB8AC3E}">
        <p14:creationId xmlns:p14="http://schemas.microsoft.com/office/powerpoint/2010/main" val="9525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F2F8ED-EAE9-48EE-A4A4-F00CF8D70EE8}"/>
              </a:ext>
            </a:extLst>
          </p:cNvPr>
          <p:cNvSpPr/>
          <p:nvPr/>
        </p:nvSpPr>
        <p:spPr>
          <a:xfrm>
            <a:off x="171634" y="192168"/>
            <a:ext cx="118132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5. Create a web page that highlights the features of HTML5. Use appropriate semantic tags to structure the</a:t>
            </a:r>
          </a:p>
          <a:p>
            <a:r>
              <a:rPr lang="en-IN" dirty="0"/>
              <a:t>content and showcase at least three key features of HTML5 with explanations.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63A01-A125-45D7-BC21-900621B0D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46429"/>
            <a:ext cx="12192000" cy="532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443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B3AD9E-9CDC-491E-87BF-8833CC737163}"/>
              </a:ext>
            </a:extLst>
          </p:cNvPr>
          <p:cNvSpPr/>
          <p:nvPr/>
        </p:nvSpPr>
        <p:spPr>
          <a:xfrm>
            <a:off x="0" y="112269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6. Create a simple web page which has a table. The table must have 2 columns HTML and HTML5. The table</a:t>
            </a:r>
          </a:p>
          <a:p>
            <a:r>
              <a:rPr lang="en-IN" dirty="0"/>
              <a:t>should include a minimum of three rows describing the differences between HTML and HTML5.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FF4DFB-144E-4D61-9D0F-6D7853FDC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1762"/>
            <a:ext cx="12192000" cy="465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06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946</Words>
  <Application>Microsoft Office PowerPoint</Application>
  <PresentationFormat>Widescreen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2023-11-01T07:14:56Z</dcterms:created>
  <dcterms:modified xsi:type="dcterms:W3CDTF">2023-11-01T07:21:27Z</dcterms:modified>
</cp:coreProperties>
</file>